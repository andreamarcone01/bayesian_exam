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8"/>
  </p:notesMasterIdLst>
  <p:sldIdLst>
    <p:sldId id="276" r:id="rId2"/>
    <p:sldId id="267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7" r:id="rId12"/>
    <p:sldId id="338" r:id="rId13"/>
    <p:sldId id="328" r:id="rId14"/>
    <p:sldId id="327" r:id="rId15"/>
    <p:sldId id="289" r:id="rId16"/>
    <p:sldId id="29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2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27/03/2026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27/03/2026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GB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xx/04/2026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GB" noProof="0" dirty="0"/>
              <a:t>Index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b="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plane</a:t>
                </a:r>
              </a:p>
            </p:txBody>
          </p:sp>
        </mc:Choice>
        <mc:Fallback xmlns="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1428108" y="1524000"/>
            <a:ext cx="6010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They are transient events of energetic photons, with a first peak and then an afterglow 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2D5997-D077-E740-00D6-9083B5BB979E}"/>
              </a:ext>
            </a:extLst>
          </p:cNvPr>
          <p:cNvSpPr txBox="1"/>
          <p:nvPr/>
        </p:nvSpPr>
        <p:spPr>
          <a:xfrm>
            <a:off x="1613043" y="2917861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T_90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F3CAB-2DE1-370D-337D-97E3B76FAD6B}"/>
              </a:ext>
            </a:extLst>
          </p:cNvPr>
          <p:cNvSpPr txBox="1"/>
          <p:nvPr/>
        </p:nvSpPr>
        <p:spPr>
          <a:xfrm>
            <a:off x="1530849" y="4099389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HR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data</a:t>
                </a: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Dataset: 1932 burst seen by BATSE with the recorded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, associated error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. 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blipFill>
                <a:blip r:embed="rId3"/>
                <a:stretch>
                  <a:fillRect l="-1772" t="-2066" b="-57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Smallest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endParaRPr lang="en-GB" noProof="0" dirty="0"/>
              </a:p>
              <a:p>
                <a:r>
                  <a:rPr lang="en-GB" noProof="0" dirty="0"/>
                  <a:t>Biggest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blipFill>
                <a:blip r:embed="rId4"/>
                <a:stretch>
                  <a:fillRect l="-1660" t="-5660" b="-132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GB" noProof="0" dirty="0"/>
                  <a:t> bins from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to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B05AFF13-2765-92A9-8188-D186DDDB7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639" y="2262664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model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model for the classification is the weighted sum of two log normal distribution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/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So we have 5 parameters to estimate, we will often call them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i="1" noProof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blipFill>
                <a:blip r:embed="rId4"/>
                <a:stretch>
                  <a:fillRect l="-1206" t="-4717" r="-134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7BF9-546A-71AE-8100-CC8345FE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Bayes theorem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/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To estimate the parameters we will use Bayes theorem, define the propositions: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set of parameters is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GB" noProof="0" dirty="0"/>
                  <a:t>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dataset we are analysing»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GB" noProof="0" dirty="0"/>
                  <a:t> = «Model of the two weighted sum log normal»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noProof="0" dirty="0"/>
                  <a:t> = «All the background information on GRBs»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blipFill>
                <a:blip r:embed="rId3"/>
                <a:stretch>
                  <a:fillRect l="-856" t="-1736" b="-45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/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f>
                        <m:f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num>
                        <m:den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32F3A2-4050-AFC6-75FD-C85482A3E434}"/>
              </a:ext>
            </a:extLst>
          </p:cNvPr>
          <p:cNvSpPr txBox="1"/>
          <p:nvPr/>
        </p:nvSpPr>
        <p:spPr>
          <a:xfrm>
            <a:off x="2044557" y="5712431"/>
            <a:ext cx="5034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Going from the start to the log?</a:t>
            </a:r>
          </a:p>
        </p:txBody>
      </p:sp>
    </p:spTree>
    <p:extLst>
      <p:ext uri="{BB962C8B-B14F-4D97-AF65-F5344CB8AC3E}">
        <p14:creationId xmlns:p14="http://schemas.microsoft.com/office/powerpoint/2010/main" val="343365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B29AB-7CE1-08E7-E55D-F92BD3E4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Prior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/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45B8B9-07ED-775F-C5AB-73994551BCBF}"/>
              </a:ext>
            </a:extLst>
          </p:cNvPr>
          <p:cNvSpPr txBox="1"/>
          <p:nvPr/>
        </p:nvSpPr>
        <p:spPr>
          <a:xfrm>
            <a:off x="2784297" y="1524000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for a set of parameters given the model and background. Outside of the bounds is zero, inside?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63450C9-5F3C-E9BB-2AC0-67613B3BBB03}"/>
              </a:ext>
            </a:extLst>
          </p:cNvPr>
          <p:cNvSpPr txBox="1"/>
          <p:nvPr/>
        </p:nvSpPr>
        <p:spPr>
          <a:xfrm>
            <a:off x="642938" y="2759075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weight and the means we chose a uniform prior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/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/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−4&lt;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&lt;7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26DB3E-C522-A550-524D-B19AE2297387}"/>
              </a:ext>
            </a:extLst>
          </p:cNvPr>
          <p:cNvSpPr txBox="1"/>
          <p:nvPr/>
        </p:nvSpPr>
        <p:spPr>
          <a:xfrm>
            <a:off x="642938" y="4209638"/>
            <a:ext cx="4720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</a:t>
            </a:r>
            <a:r>
              <a:rPr lang="en-GB" noProof="0" dirty="0" err="1"/>
              <a:t>sigmas</a:t>
            </a:r>
            <a:r>
              <a:rPr lang="en-GB" noProof="0" dirty="0"/>
              <a:t> we chose a Jeffrey’s prior because this are scale parameters of the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/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/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0.01&lt;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blipFill>
                <a:blip r:embed="rId7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/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  <m:r>
                        <m:rPr>
                          <m:lit/>
                        </m:rPr>
                        <a:rPr lang="en-GB" i="1" noProof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392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F580-3886-AB6E-BAEC-D07D4713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Likelihood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86F61D-64E6-8BBD-0240-DCBF6A8565A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of seeing the dataset given a set of parameters, the model and background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/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541DC-EDB7-9CE7-E9F5-2627CDC75D7A}"/>
              </a:ext>
            </a:extLst>
          </p:cNvPr>
          <p:cNvSpPr txBox="1"/>
          <p:nvPr/>
        </p:nvSpPr>
        <p:spPr>
          <a:xfrm>
            <a:off x="842481" y="2599362"/>
            <a:ext cx="4941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Having the model, the parameters and the bins we can compute the predicted count in a bin by our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/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GB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 noProof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e>
                                        <m:sub>
                                          <m:r>
                                            <a:rPr lang="en-GB" i="1" noProof="0" smtClean="0">
                                              <a:latin typeface="Cambria Math" panose="02040503050406030204" pitchFamily="18" charset="0"/>
                                            </a:rPr>
                                            <m:t>90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𝑑𝑏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DAD6EC8-7F13-D864-36FE-BCBC31A12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516" y="2876361"/>
                <a:ext cx="3883631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/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The probability of having the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in a bin given the predicted count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noProof="0" dirty="0"/>
                  <a:t> is the Poisson’s distribution</a:t>
                </a: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E36270B5-6AED-1116-BA85-C6FC51BB1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81" y="4089115"/>
                <a:ext cx="5496674" cy="923330"/>
              </a:xfrm>
              <a:prstGeom prst="rect">
                <a:avLst/>
              </a:prstGeom>
              <a:blipFill>
                <a:blip r:embed="rId5"/>
                <a:stretch>
                  <a:fillRect l="-887" t="-3974" b="-993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/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sSubSup>
                        <m:sSub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bSup>
                      <m:sSup>
                        <m:sSup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 noProof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C4D93A24-4A84-7670-129D-353A51839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105" y="4259007"/>
                <a:ext cx="2969232" cy="659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017CB798-6AEE-B7EF-8637-68F9C86AB162}"/>
              </a:ext>
            </a:extLst>
          </p:cNvPr>
          <p:cNvSpPr txBox="1"/>
          <p:nvPr/>
        </p:nvSpPr>
        <p:spPr>
          <a:xfrm>
            <a:off x="955497" y="5732980"/>
            <a:ext cx="5140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likelihood is the sum over all the bins!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/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d>
                    <m:r>
                      <a:rPr lang="en-GB" i="1" noProof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/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𝐻𝐼</m:t>
                            </m:r>
                          </m:e>
                        </m:d>
                      </m:e>
                    </m:nary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 xmlns="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A8942811-75EB-3258-D900-E474F9B25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0396" y="5747195"/>
                <a:ext cx="3184988" cy="369332"/>
              </a:xfrm>
              <a:prstGeom prst="rect">
                <a:avLst/>
              </a:prstGeom>
              <a:blipFill>
                <a:blip r:embed="rId7"/>
                <a:stretch>
                  <a:fillRect t="-120000" b="-190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439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BAE45-083B-9855-EF19-EDF9F6B6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E7F39CE3-6EA2-1365-0DA4-67DF5F1F3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938" y="288925"/>
            <a:ext cx="10227120" cy="1235075"/>
          </a:xfrm>
        </p:spPr>
        <p:txBody>
          <a:bodyPr>
            <a:normAutofit fontScale="90000"/>
          </a:bodyPr>
          <a:lstStyle/>
          <a:p>
            <a:r>
              <a:rPr lang="en-GB" noProof="0" dirty="0"/>
              <a:t>Sample the posterior: Metropolis-Hasting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14852E3-29E0-3FE9-590F-4EFDFED456C2}"/>
              </a:ext>
            </a:extLst>
          </p:cNvPr>
          <p:cNvSpPr txBox="1"/>
          <p:nvPr/>
        </p:nvSpPr>
        <p:spPr>
          <a:xfrm>
            <a:off x="642938" y="1387012"/>
            <a:ext cx="5599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Given a set of parameters we can now compute the posterior. How we find the set that maximise it?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4F344A3-D166-92CA-7BC3-9312A29E3014}"/>
              </a:ext>
            </a:extLst>
          </p:cNvPr>
          <p:cNvSpPr txBox="1"/>
          <p:nvPr/>
        </p:nvSpPr>
        <p:spPr>
          <a:xfrm>
            <a:off x="791110" y="2280863"/>
            <a:ext cx="2969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5D grid search: not smart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91C7829-ECF9-C115-470C-D8EEC36C8BC5}"/>
              </a:ext>
            </a:extLst>
          </p:cNvPr>
          <p:cNvSpPr txBox="1"/>
          <p:nvPr/>
        </p:nvSpPr>
        <p:spPr>
          <a:xfrm>
            <a:off x="4475199" y="2280863"/>
            <a:ext cx="3534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Metropolis-Hasting </a:t>
            </a:r>
            <a:r>
              <a:rPr lang="it-IT" dirty="0" err="1"/>
              <a:t>algorithm</a:t>
            </a:r>
            <a:r>
              <a:rPr lang="it-IT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BC4AC2BC-522C-CF7C-A8BC-2F88B1C1C828}"/>
                  </a:ext>
                </a:extLst>
              </p:cNvPr>
              <p:cNvSpPr txBox="1"/>
              <p:nvPr/>
            </p:nvSpPr>
            <p:spPr>
              <a:xfrm>
                <a:off x="2024009" y="3688422"/>
                <a:ext cx="465419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Sample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it-IT" dirty="0"/>
                  <a:t> from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Compute the </a:t>
                </a:r>
                <a:r>
                  <a:rPr lang="it-IT" dirty="0" err="1"/>
                  <a:t>posterior</a:t>
                </a:r>
                <a:r>
                  <a:rPr lang="it-IT" dirty="0"/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Check </a:t>
                </a:r>
                <a:r>
                  <a:rPr lang="it-IT" dirty="0" err="1"/>
                  <a:t>acceptance</a:t>
                </a:r>
                <a:r>
                  <a:rPr lang="it-IT" dirty="0"/>
                  <a:t> rule</a:t>
                </a:r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BC4AC2BC-522C-CF7C-A8BC-2F88B1C1C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4009" y="3688422"/>
                <a:ext cx="4654193" cy="923330"/>
              </a:xfrm>
              <a:prstGeom prst="rect">
                <a:avLst/>
              </a:prstGeom>
              <a:blipFill>
                <a:blip r:embed="rId2"/>
                <a:stretch>
                  <a:fillRect l="-785" t="-3289" b="-9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A8346508-EC61-0A86-CF73-51AB617DF50E}"/>
                  </a:ext>
                </a:extLst>
              </p:cNvPr>
              <p:cNvSpPr txBox="1"/>
              <p:nvPr/>
            </p:nvSpPr>
            <p:spPr>
              <a:xfrm>
                <a:off x="1757684" y="4860348"/>
                <a:ext cx="16849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If</a:t>
                </a:r>
                <a:r>
                  <a:rPr lang="it-IT" dirty="0"/>
                  <a:t> </a:t>
                </a:r>
                <a:r>
                  <a:rPr lang="it-IT" dirty="0" err="1"/>
                  <a:t>true</a:t>
                </a:r>
                <a:r>
                  <a:rPr lang="it-IT" dirty="0"/>
                  <a:t> </a:t>
                </a:r>
                <a:r>
                  <a:rPr lang="it-IT" dirty="0" err="1"/>
                  <a:t>move</a:t>
                </a:r>
                <a:r>
                  <a:rPr lang="it-IT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A8346508-EC61-0A86-CF73-51AB617DF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684" y="4860348"/>
                <a:ext cx="1684962" cy="646331"/>
              </a:xfrm>
              <a:prstGeom prst="rect">
                <a:avLst/>
              </a:prstGeom>
              <a:blipFill>
                <a:blip r:embed="rId3"/>
                <a:stretch>
                  <a:fillRect l="-2888" t="-4717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A45A8E9-92A5-F272-C0D9-0FF6E89C39A8}"/>
                  </a:ext>
                </a:extLst>
              </p:cNvPr>
              <p:cNvSpPr txBox="1"/>
              <p:nvPr/>
            </p:nvSpPr>
            <p:spPr>
              <a:xfrm>
                <a:off x="4025757" y="4998847"/>
                <a:ext cx="2070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If</a:t>
                </a:r>
                <a:r>
                  <a:rPr lang="it-IT" dirty="0"/>
                  <a:t> false stay </a:t>
                </a:r>
                <a:r>
                  <a:rPr lang="it-IT" dirty="0" err="1"/>
                  <a:t>at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A45A8E9-92A5-F272-C0D9-0FF6E89C3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57" y="4998847"/>
                <a:ext cx="2070243" cy="369332"/>
              </a:xfrm>
              <a:prstGeom prst="rect">
                <a:avLst/>
              </a:prstGeom>
              <a:blipFill>
                <a:blip r:embed="rId4"/>
                <a:stretch>
                  <a:fillRect l="-2353"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7F281147-055D-0C36-6BC8-FBB7FEF09A80}"/>
                  </a:ext>
                </a:extLst>
              </p:cNvPr>
              <p:cNvSpPr txBox="1"/>
              <p:nvPr/>
            </p:nvSpPr>
            <p:spPr>
              <a:xfrm>
                <a:off x="6883685" y="4448710"/>
                <a:ext cx="311307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In </a:t>
                </a:r>
                <a:r>
                  <a:rPr lang="it-IT" dirty="0" err="1"/>
                  <a:t>this</a:t>
                </a:r>
                <a:r>
                  <a:rPr lang="it-IT" dirty="0"/>
                  <a:t> way we </a:t>
                </a:r>
                <a:r>
                  <a:rPr lang="it-IT" dirty="0" err="1"/>
                  <a:t>will</a:t>
                </a:r>
                <a:r>
                  <a:rPr lang="it-IT" dirty="0"/>
                  <a:t> have the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dirty="0"/>
                  <a:t> with </a:t>
                </a:r>
                <a:r>
                  <a:rPr lang="it-IT" dirty="0" err="1"/>
                  <a:t>higher</a:t>
                </a:r>
                <a:r>
                  <a:rPr lang="it-IT" dirty="0"/>
                  <a:t> </a:t>
                </a:r>
                <a:r>
                  <a:rPr lang="it-IT" dirty="0" err="1"/>
                  <a:t>posterior</a:t>
                </a:r>
                <a:r>
                  <a:rPr lang="it-IT" dirty="0"/>
                  <a:t> more times so more </a:t>
                </a:r>
                <a:r>
                  <a:rPr lang="it-IT" dirty="0" err="1"/>
                  <a:t>probable</a:t>
                </a:r>
                <a:r>
                  <a:rPr lang="it-IT" dirty="0"/>
                  <a:t>! </a:t>
                </a:r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7F281147-055D-0C36-6BC8-FBB7FEF09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685" y="4448710"/>
                <a:ext cx="3113070" cy="1200329"/>
              </a:xfrm>
              <a:prstGeom prst="rect">
                <a:avLst/>
              </a:prstGeom>
              <a:blipFill>
                <a:blip r:embed="rId5"/>
                <a:stretch>
                  <a:fillRect l="-1566" t="-3046" b="-710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440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0DA32-9781-B808-0A0C-2A51C2DA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traces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6849C8-AAAC-DBA6-DA09-1E7DDF652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3E53D19-CCA6-7A67-3F38-FFE9A09F8A76}"/>
              </a:ext>
            </a:extLst>
          </p:cNvPr>
          <p:cNvSpPr txBox="1"/>
          <p:nvPr/>
        </p:nvSpPr>
        <p:spPr>
          <a:xfrm>
            <a:off x="873303" y="1438382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EA2502F-A3FD-B997-1E0C-DBF2338E1368}"/>
              </a:ext>
            </a:extLst>
          </p:cNvPr>
          <p:cNvSpPr txBox="1"/>
          <p:nvPr/>
        </p:nvSpPr>
        <p:spPr>
          <a:xfrm>
            <a:off x="6096000" y="1524000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</a:t>
            </a:r>
            <a:r>
              <a:rPr lang="it-IT" dirty="0" err="1"/>
              <a:t>see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some steps are </a:t>
            </a:r>
            <a:r>
              <a:rPr lang="it-IT" dirty="0" err="1"/>
              <a:t>needed</a:t>
            </a:r>
            <a:r>
              <a:rPr lang="it-IT" dirty="0"/>
              <a:t> to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peak</a:t>
            </a:r>
            <a:r>
              <a:rPr lang="it-IT" dirty="0"/>
              <a:t> </a:t>
            </a:r>
            <a:r>
              <a:rPr lang="it-IT" dirty="0" err="1"/>
              <a:t>around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we sample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3F24C87-44B2-B43E-2257-E055947EBBCC}"/>
              </a:ext>
            </a:extLst>
          </p:cNvPr>
          <p:cNvSpPr txBox="1"/>
          <p:nvPr/>
        </p:nvSpPr>
        <p:spPr>
          <a:xfrm>
            <a:off x="6096000" y="3174715"/>
            <a:ext cx="2739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Burn-in: </a:t>
            </a:r>
            <a:r>
              <a:rPr lang="it-IT" dirty="0" err="1"/>
              <a:t>discard</a:t>
            </a:r>
            <a:r>
              <a:rPr lang="it-IT" dirty="0"/>
              <a:t>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initial</a:t>
            </a:r>
            <a:r>
              <a:rPr lang="it-IT" dirty="0"/>
              <a:t> points to have </a:t>
            </a:r>
            <a:r>
              <a:rPr lang="it-IT" dirty="0" err="1"/>
              <a:t>better</a:t>
            </a:r>
            <a:r>
              <a:rPr lang="it-IT" dirty="0"/>
              <a:t> samples of the </a:t>
            </a:r>
            <a:r>
              <a:rPr lang="it-IT" dirty="0" err="1"/>
              <a:t>peaks</a:t>
            </a:r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55274-6CE6-289F-88CB-EC0C839969F2}"/>
              </a:ext>
            </a:extLst>
          </p:cNvPr>
          <p:cNvSpPr txBox="1"/>
          <p:nvPr/>
        </p:nvSpPr>
        <p:spPr>
          <a:xfrm>
            <a:off x="789397" y="3774879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traces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239894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E04F7-08B1-0F67-0E00-DD3B07E7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autocorrelation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61AB2C2D-3F36-2B3C-0D1A-E1E4A797F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E1A435D-10B3-AE32-A529-EFC678169886}"/>
              </a:ext>
            </a:extLst>
          </p:cNvPr>
          <p:cNvSpPr txBox="1"/>
          <p:nvPr/>
        </p:nvSpPr>
        <p:spPr>
          <a:xfrm>
            <a:off x="6153419" y="1794150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869B42F-15EF-2B74-826F-CE70400484C8}"/>
              </a:ext>
            </a:extLst>
          </p:cNvPr>
          <p:cNvSpPr txBox="1"/>
          <p:nvPr/>
        </p:nvSpPr>
        <p:spPr>
          <a:xfrm>
            <a:off x="642938" y="1517151"/>
            <a:ext cx="3387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look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autocorrelation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and we </a:t>
            </a:r>
            <a:r>
              <a:rPr lang="it-IT" dirty="0" err="1"/>
              <a:t>see</a:t>
            </a:r>
            <a:r>
              <a:rPr lang="it-IT" dirty="0"/>
              <a:t> some are </a:t>
            </a:r>
            <a:r>
              <a:rPr lang="it-IT" dirty="0" err="1"/>
              <a:t>correlated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D09C7CC-B53E-6830-0A4A-1B362D3C8486}"/>
              </a:ext>
            </a:extLst>
          </p:cNvPr>
          <p:cNvSpPr txBox="1"/>
          <p:nvPr/>
        </p:nvSpPr>
        <p:spPr>
          <a:xfrm>
            <a:off x="835631" y="3503488"/>
            <a:ext cx="2739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Thinning</a:t>
            </a:r>
            <a:r>
              <a:rPr lang="it-IT" dirty="0"/>
              <a:t>: take a point </a:t>
            </a:r>
            <a:r>
              <a:rPr lang="it-IT" dirty="0" err="1"/>
              <a:t>every</a:t>
            </a:r>
            <a:r>
              <a:rPr lang="it-IT" dirty="0"/>
              <a:t> n to have not </a:t>
            </a:r>
            <a:r>
              <a:rPr lang="it-IT" dirty="0" err="1"/>
              <a:t>correlated</a:t>
            </a:r>
            <a:r>
              <a:rPr lang="it-IT" dirty="0"/>
              <a:t> samples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41E918A-7828-1864-6E17-25DD14C62559}"/>
              </a:ext>
            </a:extLst>
          </p:cNvPr>
          <p:cNvSpPr txBox="1"/>
          <p:nvPr/>
        </p:nvSpPr>
        <p:spPr>
          <a:xfrm>
            <a:off x="7642260" y="4884488"/>
            <a:ext cx="401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Plot </a:t>
            </a:r>
            <a:r>
              <a:rPr lang="it-IT" dirty="0" err="1"/>
              <a:t>autocorr</a:t>
            </a:r>
            <a:r>
              <a:rPr lang="it-IT" dirty="0"/>
              <a:t> zoom</a:t>
            </a:r>
          </a:p>
        </p:txBody>
      </p:sp>
    </p:spTree>
    <p:extLst>
      <p:ext uri="{BB962C8B-B14F-4D97-AF65-F5344CB8AC3E}">
        <p14:creationId xmlns:p14="http://schemas.microsoft.com/office/powerpoint/2010/main" val="1751215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2ABE6-0E02-B97D-7D52-AA0183765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marginals </a:t>
                </a:r>
              </a:p>
            </p:txBody>
          </p:sp>
        </mc:Choice>
        <mc:Fallback xmlns="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AE704596-465D-664E-9786-E44E348CC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B4D7EE-F9D3-DAD6-AB74-2E4A0EF3066C}"/>
              </a:ext>
            </a:extLst>
          </p:cNvPr>
          <p:cNvSpPr txBox="1"/>
          <p:nvPr/>
        </p:nvSpPr>
        <p:spPr>
          <a:xfrm>
            <a:off x="642938" y="1517151"/>
            <a:ext cx="3387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make the </a:t>
            </a:r>
            <a:r>
              <a:rPr lang="it-IT" dirty="0" err="1"/>
              <a:t>histograms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, we </a:t>
            </a:r>
            <a:r>
              <a:rPr lang="it-IT" dirty="0" err="1"/>
              <a:t>find</a:t>
            </a:r>
            <a:r>
              <a:rPr lang="it-IT" dirty="0"/>
              <a:t> the </a:t>
            </a:r>
            <a:r>
              <a:rPr lang="it-IT" dirty="0" err="1"/>
              <a:t>median</a:t>
            </a:r>
            <a:r>
              <a:rPr lang="it-IT" dirty="0"/>
              <a:t> </a:t>
            </a:r>
            <a:r>
              <a:rPr lang="it-IT" dirty="0" err="1"/>
              <a:t>value</a:t>
            </a:r>
            <a:r>
              <a:rPr lang="it-IT" dirty="0"/>
              <a:t> and the </a:t>
            </a:r>
            <a:r>
              <a:rPr lang="it-IT" dirty="0" err="1"/>
              <a:t>interval</a:t>
            </a:r>
            <a:r>
              <a:rPr lang="it-IT" dirty="0"/>
              <a:t> </a:t>
            </a:r>
            <a:r>
              <a:rPr lang="it-IT" dirty="0" err="1"/>
              <a:t>corrisponding</a:t>
            </a:r>
            <a:r>
              <a:rPr lang="it-IT" dirty="0"/>
              <a:t> to 68% </a:t>
            </a:r>
            <a:r>
              <a:rPr lang="it-IT" dirty="0" err="1"/>
              <a:t>level</a:t>
            </a:r>
            <a:r>
              <a:rPr lang="it-IT" dirty="0"/>
              <a:t> of confidence</a:t>
            </a:r>
          </a:p>
        </p:txBody>
      </p:sp>
    </p:spTree>
    <p:extLst>
      <p:ext uri="{BB962C8B-B14F-4D97-AF65-F5344CB8AC3E}">
        <p14:creationId xmlns:p14="http://schemas.microsoft.com/office/powerpoint/2010/main" val="902720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F931F-0CE4-A645-A0BF-7F3424E1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noProof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0.326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−0.020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+0.024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−0.14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1.48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3.56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−0.050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+0.048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0.982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+0.035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4873088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1639" r="-4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1639" r="-3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1639" r="-2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1639" r="-1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1639" r="-1498" b="-2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6873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98413" r="-4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98413" r="-3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98413" r="-2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98413" r="-1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98413" r="-149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46216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Conclusioni</a:t>
            </a:r>
            <a:endParaRPr lang="en-GB" noProof="0" dirty="0"/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onde</a:t>
            </a:r>
            <a:r>
              <a:rPr lang="en-GB" sz="2400" noProof="0" dirty="0"/>
              <a:t> di Alfvén con </a:t>
            </a:r>
            <a:r>
              <a:rPr lang="en-GB" sz="2400" noProof="0" dirty="0" err="1"/>
              <a:t>conduttività</a:t>
            </a:r>
            <a:r>
              <a:rPr lang="en-GB" sz="2400" noProof="0" dirty="0"/>
              <a:t> </a:t>
            </a:r>
            <a:r>
              <a:rPr lang="en-GB" sz="2400" noProof="0" dirty="0" err="1"/>
              <a:t>finita</a:t>
            </a: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smorzate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Il Sole ha </a:t>
            </a:r>
            <a:r>
              <a:rPr lang="en-GB" sz="2400" noProof="0" dirty="0" err="1"/>
              <a:t>diversi</a:t>
            </a:r>
            <a:r>
              <a:rPr lang="en-GB" sz="2400" noProof="0" dirty="0"/>
              <a:t> </a:t>
            </a:r>
            <a:r>
              <a:rPr lang="en-GB" sz="2400" noProof="0" dirty="0" err="1"/>
              <a:t>modi</a:t>
            </a:r>
            <a:r>
              <a:rPr lang="en-GB" sz="2400" noProof="0" dirty="0"/>
              <a:t> di </a:t>
            </a:r>
            <a:r>
              <a:rPr lang="en-GB" sz="2400" noProof="0" dirty="0" err="1"/>
              <a:t>generare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perturbazioni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fotosfera</a:t>
            </a:r>
            <a:r>
              <a:rPr lang="en-GB" sz="2400" noProof="0" dirty="0"/>
              <a:t> </a:t>
            </a:r>
            <a:r>
              <a:rPr lang="en-GB" sz="2400" noProof="0" dirty="0" err="1"/>
              <a:t>viste</a:t>
            </a:r>
            <a:r>
              <a:rPr lang="en-GB" sz="2400" noProof="0" dirty="0"/>
              <a:t> come </a:t>
            </a:r>
            <a:r>
              <a:rPr lang="en-GB" sz="2400" noProof="0" dirty="0" err="1"/>
              <a:t>granulazione</a:t>
            </a:r>
            <a:r>
              <a:rPr lang="en-GB" sz="2400" noProof="0" dirty="0"/>
              <a:t> </a:t>
            </a:r>
            <a:r>
              <a:rPr lang="en-GB" sz="2400" noProof="0" dirty="0" err="1"/>
              <a:t>danno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più</a:t>
            </a:r>
            <a:r>
              <a:rPr lang="en-GB" sz="2400" noProof="0" dirty="0"/>
              <a:t> </a:t>
            </a:r>
            <a:r>
              <a:rPr lang="en-GB" sz="2400" noProof="0" dirty="0" err="1"/>
              <a:t>facilmente</a:t>
            </a:r>
            <a:r>
              <a:rPr lang="en-GB" sz="2400" noProof="0" dirty="0"/>
              <a:t> </a:t>
            </a:r>
            <a:r>
              <a:rPr lang="en-GB" sz="2400" noProof="0" dirty="0" err="1"/>
              <a:t>assorbite</a:t>
            </a:r>
            <a:r>
              <a:rPr lang="en-GB" sz="2400" noProof="0" dirty="0"/>
              <a:t> </a:t>
            </a:r>
            <a:r>
              <a:rPr lang="en-GB" sz="2400" noProof="0" dirty="0" err="1"/>
              <a:t>nella</a:t>
            </a:r>
            <a:r>
              <a:rPr lang="en-GB" sz="2400" noProof="0" dirty="0"/>
              <a:t> corona </a:t>
            </a:r>
            <a:r>
              <a:rPr lang="en-GB" sz="2400" noProof="0" dirty="0" err="1"/>
              <a:t>solare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Possibile</a:t>
            </a:r>
            <a:r>
              <a:rPr lang="en-GB" sz="2400" noProof="0" dirty="0"/>
              <a:t> </a:t>
            </a:r>
            <a:r>
              <a:rPr lang="en-GB" sz="2400" noProof="0" dirty="0" err="1"/>
              <a:t>spiegazione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maggiore</a:t>
            </a:r>
            <a:r>
              <a:rPr lang="en-GB" sz="2400" noProof="0" dirty="0"/>
              <a:t> </a:t>
            </a:r>
            <a:r>
              <a:rPr lang="en-GB" sz="2400" noProof="0" dirty="0" err="1"/>
              <a:t>temperatura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corona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Bibliografia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GB" sz="2000" noProof="0" dirty="0"/>
              <a:t>H. Alfvén, Magneto hydrodynamic waves, and the heating of the solar corona, Monthly Notices of the Royal Astronomical Society </a:t>
            </a:r>
            <a:r>
              <a:rPr lang="en-GB" sz="2000" b="1" noProof="0" dirty="0"/>
              <a:t>107</a:t>
            </a:r>
            <a:r>
              <a:rPr lang="en-GB" sz="2000" noProof="0" dirty="0"/>
              <a:t>, 211 (1947).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[1]: H. Alfven, On the existence of electromagnetic-hydro· dynamic waves., Ark. Mat. </a:t>
            </a:r>
            <a:r>
              <a:rPr lang="en-GB" sz="2000" noProof="0" dirty="0" err="1"/>
              <a:t>Astr</a:t>
            </a:r>
            <a:r>
              <a:rPr lang="en-GB" sz="2000" noProof="0" dirty="0"/>
              <a:t>. Fys.t </a:t>
            </a:r>
            <a:r>
              <a:rPr lang="en-GB" sz="2000" b="1" noProof="0" dirty="0"/>
              <a:t>29B</a:t>
            </a:r>
            <a:r>
              <a:rPr lang="en-GB" sz="2000" noProof="0" dirty="0"/>
              <a:t>, (1942). 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GB" sz="2000" b="1" noProof="0" dirty="0"/>
              <a:t>183</a:t>
            </a:r>
            <a:r>
              <a:rPr lang="en-GB" sz="2000" noProof="0" dirty="0"/>
              <a:t>, 453 (1945).</a:t>
            </a:r>
          </a:p>
          <a:p>
            <a:pPr marL="0" indent="0">
              <a:buNone/>
            </a:pP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GB" sz="6000" noProof="0" dirty="0"/>
              <a:t>Grazie per </a:t>
            </a:r>
            <a:r>
              <a:rPr lang="en-GB" sz="6000" noProof="0" dirty="0" err="1"/>
              <a:t>l’attenzione</a:t>
            </a:r>
            <a:endParaRPr lang="en-GB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6861</TotalTime>
  <Words>754</Words>
  <Application>Microsoft Office PowerPoint</Application>
  <PresentationFormat>Widescreen</PresentationFormat>
  <Paragraphs>97</Paragraphs>
  <Slides>16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3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Classification on log⁡(T_90 ): Bayes theorem</vt:lpstr>
      <vt:lpstr>Classification on log⁡(T_90 ): Prior</vt:lpstr>
      <vt:lpstr>Classification on log⁡(T_90 ): Likelihood</vt:lpstr>
      <vt:lpstr>Sample the posterior: Metropolis-Hasting</vt:lpstr>
      <vt:lpstr>Classification on log⁡(T_90 ): traces</vt:lpstr>
      <vt:lpstr>Classification on log⁡(T_90 ): autocorrelation</vt:lpstr>
      <vt:lpstr>Classification on log⁡(T_90 ): marginals </vt:lpstr>
      <vt:lpstr>Presentazione standard di PowerPoint</vt:lpstr>
      <vt:lpstr>Conclusioni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61</cp:revision>
  <dcterms:created xsi:type="dcterms:W3CDTF">2025-03-06T14:22:57Z</dcterms:created>
  <dcterms:modified xsi:type="dcterms:W3CDTF">2026-03-27T09:52:20Z</dcterms:modified>
</cp:coreProperties>
</file>